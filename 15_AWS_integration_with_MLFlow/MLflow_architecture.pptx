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04"/>
    <p:restoredTop sz="82940"/>
  </p:normalViewPr>
  <p:slideViewPr>
    <p:cSldViewPr snapToGrid="0" snapToObjects="1">
      <p:cViewPr varScale="1">
        <p:scale>
          <a:sx n="103" d="100"/>
          <a:sy n="103" d="100"/>
        </p:scale>
        <p:origin x="1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50AFE0-F249-5D45-8E8D-2D6D523CD7D5}" type="datetimeFigureOut">
              <a:rPr lang="en-US" smtClean="0"/>
              <a:t>11/27/25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94BE9E-5529-9E4B-AF68-6A94A2D29AAD}" type="slidenum">
              <a:rPr lang="en-US" smtClean="0"/>
              <a:t>‹#›</a:t>
            </a:fld>
            <a:endParaRPr lang="en-US"/>
          </a:p>
        </p:txBody>
      </p:sp>
    </p:spTree>
    <p:extLst>
      <p:ext uri="{BB962C8B-B14F-4D97-AF65-F5344CB8AC3E}">
        <p14:creationId xmlns:p14="http://schemas.microsoft.com/office/powerpoint/2010/main" val="2001749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Sign in for IAM user: https://505887203745.signin.aws.amazon.com/console</a:t>
            </a:r>
          </a:p>
          <a:p>
            <a:endParaRPr lang="en-US" dirty="0"/>
          </a:p>
          <a:p>
            <a:r>
              <a:rPr lang="en-US" dirty="0" err="1"/>
              <a:t>SageMaker</a:t>
            </a:r>
            <a:r>
              <a:rPr lang="en-US" dirty="0"/>
              <a:t> = popular service of ML in AWS</a:t>
            </a:r>
          </a:p>
          <a:p>
            <a:pPr marL="171450" indent="-171450">
              <a:buFont typeface="Arial" panose="020B0604020202020204" pitchFamily="34" charset="0"/>
              <a:buChar char="•"/>
            </a:pPr>
            <a:r>
              <a:rPr lang="en-US" dirty="0"/>
              <a:t>Comprehensive platform designed to turbocharge your ML journey in AWS (deployment, monitoring, seamless integration with AWS services)</a:t>
            </a:r>
          </a:p>
          <a:p>
            <a:pPr marL="171450" indent="-171450">
              <a:buFont typeface="Arial" panose="020B0604020202020204" pitchFamily="34" charset="0"/>
              <a:buChar char="•"/>
            </a:pPr>
            <a:r>
              <a:rPr lang="en-US" dirty="0"/>
              <a:t>One stop shop: prep data, try out different algorithms, train your models</a:t>
            </a:r>
          </a:p>
          <a:p>
            <a:pPr marL="171450" indent="-171450">
              <a:buFont typeface="Arial" panose="020B0604020202020204" pitchFamily="34" charset="0"/>
              <a:buChar char="•"/>
            </a:pPr>
            <a:r>
              <a:rPr lang="en-US" dirty="0"/>
              <a:t>Built-in algorithms available or can use custom ones</a:t>
            </a:r>
          </a:p>
          <a:p>
            <a:endParaRPr lang="en-US" dirty="0"/>
          </a:p>
          <a:p>
            <a:r>
              <a:rPr lang="en-US" dirty="0"/>
              <a:t>User: </a:t>
            </a:r>
            <a:r>
              <a:rPr lang="en-US" dirty="0" err="1"/>
              <a:t>mlflow</a:t>
            </a:r>
            <a:r>
              <a:rPr lang="en-US" dirty="0"/>
              <a:t>-user</a:t>
            </a:r>
          </a:p>
          <a:p>
            <a:r>
              <a:rPr lang="en-US" dirty="0"/>
              <a:t>PW: KimchiJigae95!</a:t>
            </a:r>
          </a:p>
          <a:p>
            <a:endParaRPr lang="en-US" dirty="0"/>
          </a:p>
          <a:p>
            <a:r>
              <a:rPr lang="en-US" dirty="0"/>
              <a:t>After creating EC2 instance, generate key-value pair to connect this EC2 instance from you local terminal</a:t>
            </a:r>
          </a:p>
          <a:p>
            <a:endParaRPr lang="en-US" dirty="0"/>
          </a:p>
          <a:p>
            <a:r>
              <a:rPr lang="en-US" dirty="0" err="1"/>
              <a:t>CodeComit</a:t>
            </a:r>
            <a:endParaRPr lang="en-US" dirty="0"/>
          </a:p>
          <a:p>
            <a:pPr marL="228600" indent="-228600">
              <a:buAutoNum type="arabicPeriod"/>
            </a:pPr>
            <a:r>
              <a:rPr lang="en-US" dirty="0"/>
              <a:t>Generate HTTPS git credentials (download) for code commit before cloning it to your local </a:t>
            </a:r>
          </a:p>
          <a:p>
            <a:pPr marL="228600" indent="-228600">
              <a:buAutoNum type="arabicPeriod"/>
            </a:pPr>
            <a:r>
              <a:rPr lang="en-US" dirty="0"/>
              <a:t>Create local folder where I would like to clone and work on the project</a:t>
            </a:r>
          </a:p>
          <a:p>
            <a:pPr marL="228600" indent="-228600">
              <a:buAutoNum type="arabicPeriod"/>
            </a:pPr>
            <a:r>
              <a:rPr lang="en-US" dirty="0"/>
              <a:t>Clone URL &gt; Clone HTTPS: https://git-codecommit.us-east-2.amazonaws.com/v1/repos/housing-price</a:t>
            </a:r>
          </a:p>
          <a:p>
            <a:endParaRPr lang="en-US" dirty="0"/>
          </a:p>
          <a:p>
            <a:r>
              <a:rPr lang="en-US" dirty="0"/>
              <a:t>Access key for EC2</a:t>
            </a:r>
          </a:p>
          <a:p>
            <a:pPr marL="171450" indent="-171450">
              <a:buFont typeface="Arial" panose="020B0604020202020204" pitchFamily="34" charset="0"/>
              <a:buChar char="•"/>
            </a:pPr>
            <a:r>
              <a:rPr lang="en-US" dirty="0"/>
              <a:t>ID: AKIASPIZP7SHKVC2YR52</a:t>
            </a:r>
          </a:p>
          <a:p>
            <a:pPr marL="171450" indent="-171450">
              <a:buFont typeface="Arial" panose="020B0604020202020204" pitchFamily="34" charset="0"/>
              <a:buChar char="•"/>
            </a:pPr>
            <a:r>
              <a:rPr lang="en-US" dirty="0"/>
              <a:t>PW: Fo1xokln93cpt8Io9UVRfvTT1OStsNZu09oFOzBd</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Setup </a:t>
            </a:r>
            <a:r>
              <a:rPr lang="en-US" dirty="0" err="1"/>
              <a:t>SageMaker</a:t>
            </a:r>
            <a:r>
              <a:rPr lang="en-US" dirty="0"/>
              <a:t> notebook instance for our </a:t>
            </a:r>
            <a:r>
              <a:rPr lang="en-US" dirty="0" err="1"/>
              <a:t>CodeCommit</a:t>
            </a:r>
            <a:r>
              <a:rPr lang="en-US" dirty="0"/>
              <a:t> repo, do some experimentation, train models while logging the artifacts, hyperparameters, etc. to </a:t>
            </a:r>
            <a:r>
              <a:rPr lang="en-US" dirty="0" err="1"/>
              <a:t>mlflow</a:t>
            </a:r>
            <a:r>
              <a:rPr lang="en-US" dirty="0"/>
              <a:t> tracking server. Then after doing the evaluation metrics comparison of the resulting models, we deploy the best one.</a:t>
            </a:r>
          </a:p>
        </p:txBody>
      </p:sp>
      <p:sp>
        <p:nvSpPr>
          <p:cNvPr id="4" name="Slide Number Placeholder 3"/>
          <p:cNvSpPr>
            <a:spLocks noGrp="1"/>
          </p:cNvSpPr>
          <p:nvPr>
            <p:ph type="sldNum" sz="quarter" idx="5"/>
          </p:nvPr>
        </p:nvSpPr>
        <p:spPr/>
        <p:txBody>
          <a:bodyPr/>
          <a:lstStyle/>
          <a:p>
            <a:fld id="{B994BE9E-5529-9E4B-AF68-6A94A2D29AAD}" type="slidenum">
              <a:rPr lang="en-US" smtClean="0"/>
              <a:t>1</a:t>
            </a:fld>
            <a:endParaRPr lang="en-US"/>
          </a:p>
        </p:txBody>
      </p:sp>
    </p:spTree>
    <p:extLst>
      <p:ext uri="{BB962C8B-B14F-4D97-AF65-F5344CB8AC3E}">
        <p14:creationId xmlns:p14="http://schemas.microsoft.com/office/powerpoint/2010/main" val="3058311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command: </a:t>
            </a:r>
            <a:r>
              <a:rPr lang="en-US" dirty="0" err="1"/>
              <a:t>mlflow</a:t>
            </a:r>
            <a:r>
              <a:rPr lang="en-US" dirty="0"/>
              <a:t> </a:t>
            </a:r>
            <a:r>
              <a:rPr lang="en-US" dirty="0" err="1"/>
              <a:t>sagemaker</a:t>
            </a:r>
            <a:r>
              <a:rPr lang="en-US" dirty="0"/>
              <a:t> build-and-push-container --container </a:t>
            </a:r>
            <a:r>
              <a:rPr lang="en-US" dirty="0" err="1"/>
              <a:t>xgb</a:t>
            </a:r>
            <a:r>
              <a:rPr lang="en-US" dirty="0"/>
              <a:t> --</a:t>
            </a:r>
            <a:r>
              <a:rPr lang="en-US" dirty="0" err="1"/>
              <a:t>env</a:t>
            </a:r>
            <a:r>
              <a:rPr lang="en-US" dirty="0"/>
              <a:t>-manager </a:t>
            </a:r>
            <a:r>
              <a:rPr lang="en-US" dirty="0" err="1"/>
              <a:t>conda</a:t>
            </a:r>
            <a:endParaRPr lang="en-US" dirty="0"/>
          </a:p>
        </p:txBody>
      </p:sp>
      <p:sp>
        <p:nvSpPr>
          <p:cNvPr id="4" name="Slide Number Placeholder 3"/>
          <p:cNvSpPr>
            <a:spLocks noGrp="1"/>
          </p:cNvSpPr>
          <p:nvPr>
            <p:ph type="sldNum" sz="quarter" idx="5"/>
          </p:nvPr>
        </p:nvSpPr>
        <p:spPr/>
        <p:txBody>
          <a:bodyPr/>
          <a:lstStyle/>
          <a:p>
            <a:fld id="{B994BE9E-5529-9E4B-AF68-6A94A2D29AAD}" type="slidenum">
              <a:rPr lang="en-US" smtClean="0"/>
              <a:t>3</a:t>
            </a:fld>
            <a:endParaRPr lang="en-US"/>
          </a:p>
        </p:txBody>
      </p:sp>
    </p:spTree>
    <p:extLst>
      <p:ext uri="{BB962C8B-B14F-4D97-AF65-F5344CB8AC3E}">
        <p14:creationId xmlns:p14="http://schemas.microsoft.com/office/powerpoint/2010/main" val="1324409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863C3-DB66-BA4C-AA32-4BB57DE24F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438344-6630-5944-94F3-866F31D5E1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C6E1C0-BC1F-E547-93CE-8FB78ACD8502}"/>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5" name="Footer Placeholder 4">
            <a:extLst>
              <a:ext uri="{FF2B5EF4-FFF2-40B4-BE49-F238E27FC236}">
                <a16:creationId xmlns:a16="http://schemas.microsoft.com/office/drawing/2014/main" id="{626E0779-26EF-4747-931F-30262140E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BED282-ADC8-9542-A60D-A8F0593B4B2E}"/>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1520506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CCC3F-6A93-AD4A-8472-1BCC502E21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07F807-50EE-7145-AE33-B5DA175B1F0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6191B8-155C-B14E-9B8D-4F21F98F5FF0}"/>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5" name="Footer Placeholder 4">
            <a:extLst>
              <a:ext uri="{FF2B5EF4-FFF2-40B4-BE49-F238E27FC236}">
                <a16:creationId xmlns:a16="http://schemas.microsoft.com/office/drawing/2014/main" id="{0C802C06-A0CC-B94D-A6C6-A936825B4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1799B-05DD-C342-985F-84F3B4A90592}"/>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484357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58FA-0C40-AD4A-9C5E-C4BEFB7D40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4BC3BA-D199-1749-999A-9476D6BF1E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097B02D-D819-AD46-AC2E-D32F3B5EB8FD}"/>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5" name="Footer Placeholder 4">
            <a:extLst>
              <a:ext uri="{FF2B5EF4-FFF2-40B4-BE49-F238E27FC236}">
                <a16:creationId xmlns:a16="http://schemas.microsoft.com/office/drawing/2014/main" id="{58D1B2E8-F1CE-BE47-BD5C-A5C05282CD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6BF5B4-B82D-6948-A8BC-D3C698CC263D}"/>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1076319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BFE7B-3006-D643-9407-A6A119FB92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6860D4-A49E-CD42-A831-5D7B09DCF17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84AC18-597A-1D42-B396-1AB132DE21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8A34D4-5E29-994F-8E0B-0AA3AF7C96EA}"/>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6" name="Footer Placeholder 5">
            <a:extLst>
              <a:ext uri="{FF2B5EF4-FFF2-40B4-BE49-F238E27FC236}">
                <a16:creationId xmlns:a16="http://schemas.microsoft.com/office/drawing/2014/main" id="{08506FC3-7B91-1540-9D8E-3B38183B47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1F5466-EF14-E54B-9AEB-6BEBE7140BB8}"/>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279902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955EB-3A12-2041-909F-EF55169857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E306FB-DBCB-D447-8EC7-3C6FD8FE40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B441246-C045-6143-80B7-3E17A3BB32A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BFFE75-9D0D-DE4E-9965-06ACAFA48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657F79E-D777-3A4A-AFE9-E3D83FB759F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B00043-1CB2-B743-9E1F-6583151758D9}"/>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8" name="Footer Placeholder 7">
            <a:extLst>
              <a:ext uri="{FF2B5EF4-FFF2-40B4-BE49-F238E27FC236}">
                <a16:creationId xmlns:a16="http://schemas.microsoft.com/office/drawing/2014/main" id="{2B039CF3-802B-6541-9A65-3ACB18CCEE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D0F92F-8DB1-0347-A2D2-E9D9DD73B5FA}"/>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4035115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85884-62FA-B540-9759-CC0E32C584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6D98B4-E1D8-E049-8E43-C3181B313BFB}"/>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4" name="Footer Placeholder 3">
            <a:extLst>
              <a:ext uri="{FF2B5EF4-FFF2-40B4-BE49-F238E27FC236}">
                <a16:creationId xmlns:a16="http://schemas.microsoft.com/office/drawing/2014/main" id="{B778DC18-4F7E-AE45-B456-FED0C4DF9B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0C2E2A-E4E4-0C4E-BE5B-1DEE1D2665DE}"/>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2376523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6A98FC-3A80-DF44-B0EF-F658DFFBE144}"/>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3" name="Footer Placeholder 2">
            <a:extLst>
              <a:ext uri="{FF2B5EF4-FFF2-40B4-BE49-F238E27FC236}">
                <a16:creationId xmlns:a16="http://schemas.microsoft.com/office/drawing/2014/main" id="{D36D50B7-8A1C-0245-8357-E756464363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54CE66-7567-1345-8DAC-D3932E05D2F5}"/>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964374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71744-3341-D744-B1A1-327DCAF914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281CB2-5CBD-B747-AA95-A5FF5CF485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617D0A-A824-C840-8585-46182203F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3BDA1BA-CDBC-1A41-B534-2F44F56F3D6C}"/>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6" name="Footer Placeholder 5">
            <a:extLst>
              <a:ext uri="{FF2B5EF4-FFF2-40B4-BE49-F238E27FC236}">
                <a16:creationId xmlns:a16="http://schemas.microsoft.com/office/drawing/2014/main" id="{55C26B22-1F89-9048-9995-DEBAF056C7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5D2BDA-C5C9-5341-9DE3-DDEB43C4C3C7}"/>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3709827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932CB-C714-9E41-A8CA-A65F163222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F943EB-3332-5B45-A1C9-2C9B298569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D7DE9-F1C1-2B44-A75B-7F8B72F5F4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1815D6A-6351-4141-AD07-3A998500BFA8}"/>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6" name="Footer Placeholder 5">
            <a:extLst>
              <a:ext uri="{FF2B5EF4-FFF2-40B4-BE49-F238E27FC236}">
                <a16:creationId xmlns:a16="http://schemas.microsoft.com/office/drawing/2014/main" id="{93B0ED71-D20F-F04E-B2FE-688FB1D7B2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E6CB5D-E68F-9641-A280-196DCA6A3044}"/>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3903798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F38F3-1C5E-004D-903F-A2D0C4D00F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043C79-B888-724D-9C36-1CC3B79FBC2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1A20F7-0A20-1343-8345-7AD5EA52B778}"/>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5" name="Footer Placeholder 4">
            <a:extLst>
              <a:ext uri="{FF2B5EF4-FFF2-40B4-BE49-F238E27FC236}">
                <a16:creationId xmlns:a16="http://schemas.microsoft.com/office/drawing/2014/main" id="{0602836B-BF49-1348-A892-8AB34ACAD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0D762-60B7-864B-9BA8-8728216693E9}"/>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47192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433AA3-0C27-864B-8AC8-1CC871C288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052B90-BDA5-3E47-804C-AE1FCD0113B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0B48BF-BB1A-B44A-BB50-27B5E0E3463E}"/>
              </a:ext>
            </a:extLst>
          </p:cNvPr>
          <p:cNvSpPr>
            <a:spLocks noGrp="1"/>
          </p:cNvSpPr>
          <p:nvPr>
            <p:ph type="dt" sz="half" idx="10"/>
          </p:nvPr>
        </p:nvSpPr>
        <p:spPr/>
        <p:txBody>
          <a:bodyPr/>
          <a:lstStyle/>
          <a:p>
            <a:fld id="{C8C7431F-955A-0D48-AFB8-AC88F5FBCE5C}" type="datetimeFigureOut">
              <a:rPr lang="en-US" smtClean="0"/>
              <a:t>11/27/25</a:t>
            </a:fld>
            <a:endParaRPr lang="en-US"/>
          </a:p>
        </p:txBody>
      </p:sp>
      <p:sp>
        <p:nvSpPr>
          <p:cNvPr id="5" name="Footer Placeholder 4">
            <a:extLst>
              <a:ext uri="{FF2B5EF4-FFF2-40B4-BE49-F238E27FC236}">
                <a16:creationId xmlns:a16="http://schemas.microsoft.com/office/drawing/2014/main" id="{412D55AB-A50C-B741-9612-05F005C53A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FCF4C-FBE1-D644-9BA4-CB30F24371B8}"/>
              </a:ext>
            </a:extLst>
          </p:cNvPr>
          <p:cNvSpPr>
            <a:spLocks noGrp="1"/>
          </p:cNvSpPr>
          <p:nvPr>
            <p:ph type="sldNum" sz="quarter" idx="12"/>
          </p:nvPr>
        </p:nvSpPr>
        <p:spPr/>
        <p:txBody>
          <a:bodyPr/>
          <a:lstStyle/>
          <a:p>
            <a:fld id="{16C6521F-E257-3347-B3C7-E23BCF228E88}" type="slidenum">
              <a:rPr lang="en-US" smtClean="0"/>
              <a:t>‹#›</a:t>
            </a:fld>
            <a:endParaRPr lang="en-US"/>
          </a:p>
        </p:txBody>
      </p:sp>
    </p:spTree>
    <p:extLst>
      <p:ext uri="{BB962C8B-B14F-4D97-AF65-F5344CB8AC3E}">
        <p14:creationId xmlns:p14="http://schemas.microsoft.com/office/powerpoint/2010/main" val="3310785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2E0216-5FE6-BF4F-BC5F-CF4FA48D9E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06378B-49D5-AA40-80B5-FCE568D4E0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31CECC-7578-9344-ACD2-DDD63BAAA0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C7431F-955A-0D48-AFB8-AC88F5FBCE5C}" type="datetimeFigureOut">
              <a:rPr lang="en-US" smtClean="0"/>
              <a:t>11/27/25</a:t>
            </a:fld>
            <a:endParaRPr lang="en-US"/>
          </a:p>
        </p:txBody>
      </p:sp>
      <p:sp>
        <p:nvSpPr>
          <p:cNvPr id="5" name="Footer Placeholder 4">
            <a:extLst>
              <a:ext uri="{FF2B5EF4-FFF2-40B4-BE49-F238E27FC236}">
                <a16:creationId xmlns:a16="http://schemas.microsoft.com/office/drawing/2014/main" id="{96DE63CC-FD15-974A-AAB8-D614BA68CC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E90293-ECC8-CF4D-BC33-7D980BD13E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C6521F-E257-3347-B3C7-E23BCF228E88}" type="slidenum">
              <a:rPr lang="en-US" smtClean="0"/>
              <a:t>‹#›</a:t>
            </a:fld>
            <a:endParaRPr lang="en-US"/>
          </a:p>
        </p:txBody>
      </p:sp>
    </p:spTree>
    <p:extLst>
      <p:ext uri="{BB962C8B-B14F-4D97-AF65-F5344CB8AC3E}">
        <p14:creationId xmlns:p14="http://schemas.microsoft.com/office/powerpoint/2010/main" val="3161820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75B5E9-DA3B-C542-B143-B034A88F1108}"/>
              </a:ext>
            </a:extLst>
          </p:cNvPr>
          <p:cNvSpPr/>
          <p:nvPr/>
        </p:nvSpPr>
        <p:spPr>
          <a:xfrm>
            <a:off x="726674" y="1063648"/>
            <a:ext cx="153813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AWS </a:t>
            </a:r>
            <a:r>
              <a:rPr lang="en-US" dirty="0" err="1"/>
              <a:t>CodeCommit</a:t>
            </a:r>
            <a:endParaRPr lang="en-US" dirty="0"/>
          </a:p>
        </p:txBody>
      </p:sp>
      <p:sp>
        <p:nvSpPr>
          <p:cNvPr id="14" name="Rectangle 13">
            <a:extLst>
              <a:ext uri="{FF2B5EF4-FFF2-40B4-BE49-F238E27FC236}">
                <a16:creationId xmlns:a16="http://schemas.microsoft.com/office/drawing/2014/main" id="{09C6C3F8-138C-1244-B6B5-DFC231896922}"/>
              </a:ext>
            </a:extLst>
          </p:cNvPr>
          <p:cNvSpPr/>
          <p:nvPr/>
        </p:nvSpPr>
        <p:spPr>
          <a:xfrm>
            <a:off x="7304098" y="1063648"/>
            <a:ext cx="153813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AWS </a:t>
            </a:r>
            <a:r>
              <a:rPr lang="en-US" dirty="0" err="1"/>
              <a:t>CodeCommit</a:t>
            </a:r>
            <a:endParaRPr lang="en-US" dirty="0"/>
          </a:p>
        </p:txBody>
      </p:sp>
      <p:sp>
        <p:nvSpPr>
          <p:cNvPr id="15" name="Rectangle 14">
            <a:extLst>
              <a:ext uri="{FF2B5EF4-FFF2-40B4-BE49-F238E27FC236}">
                <a16:creationId xmlns:a16="http://schemas.microsoft.com/office/drawing/2014/main" id="{B2361001-3E34-9349-BF03-27526F496BAB}"/>
              </a:ext>
            </a:extLst>
          </p:cNvPr>
          <p:cNvSpPr/>
          <p:nvPr/>
        </p:nvSpPr>
        <p:spPr>
          <a:xfrm>
            <a:off x="3876610" y="4146576"/>
            <a:ext cx="1313063" cy="6812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AWS EC2</a:t>
            </a:r>
          </a:p>
        </p:txBody>
      </p:sp>
      <p:sp>
        <p:nvSpPr>
          <p:cNvPr id="16" name="Rectangle 15">
            <a:extLst>
              <a:ext uri="{FF2B5EF4-FFF2-40B4-BE49-F238E27FC236}">
                <a16:creationId xmlns:a16="http://schemas.microsoft.com/office/drawing/2014/main" id="{802275A9-2C0E-B04A-A330-A8380797B600}"/>
              </a:ext>
            </a:extLst>
          </p:cNvPr>
          <p:cNvSpPr/>
          <p:nvPr/>
        </p:nvSpPr>
        <p:spPr>
          <a:xfrm>
            <a:off x="4729949" y="5218390"/>
            <a:ext cx="1313063" cy="6812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AWS S3</a:t>
            </a:r>
          </a:p>
        </p:txBody>
      </p:sp>
      <p:sp>
        <p:nvSpPr>
          <p:cNvPr id="17" name="Rectangle 16">
            <a:extLst>
              <a:ext uri="{FF2B5EF4-FFF2-40B4-BE49-F238E27FC236}">
                <a16:creationId xmlns:a16="http://schemas.microsoft.com/office/drawing/2014/main" id="{F0ED2B97-79B9-3446-9899-EE3F96D0E340}"/>
              </a:ext>
            </a:extLst>
          </p:cNvPr>
          <p:cNvSpPr/>
          <p:nvPr/>
        </p:nvSpPr>
        <p:spPr>
          <a:xfrm>
            <a:off x="5600194" y="4146576"/>
            <a:ext cx="1313063" cy="6812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AWS </a:t>
            </a:r>
            <a:r>
              <a:rPr lang="en-US" dirty="0" err="1"/>
              <a:t>SageMaker</a:t>
            </a:r>
            <a:endParaRPr lang="en-US" dirty="0"/>
          </a:p>
        </p:txBody>
      </p:sp>
      <p:sp>
        <p:nvSpPr>
          <p:cNvPr id="18" name="Rectangle 17">
            <a:extLst>
              <a:ext uri="{FF2B5EF4-FFF2-40B4-BE49-F238E27FC236}">
                <a16:creationId xmlns:a16="http://schemas.microsoft.com/office/drawing/2014/main" id="{1E8922C6-E098-ED49-A49A-9CA9EC2A4761}"/>
              </a:ext>
            </a:extLst>
          </p:cNvPr>
          <p:cNvSpPr/>
          <p:nvPr/>
        </p:nvSpPr>
        <p:spPr>
          <a:xfrm>
            <a:off x="7911679" y="4499300"/>
            <a:ext cx="153813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Endpoint</a:t>
            </a:r>
          </a:p>
        </p:txBody>
      </p:sp>
      <p:sp>
        <p:nvSpPr>
          <p:cNvPr id="19" name="Rectangle 18">
            <a:extLst>
              <a:ext uri="{FF2B5EF4-FFF2-40B4-BE49-F238E27FC236}">
                <a16:creationId xmlns:a16="http://schemas.microsoft.com/office/drawing/2014/main" id="{A2618C4F-1DB0-6B4A-A221-C9039D42721E}"/>
              </a:ext>
            </a:extLst>
          </p:cNvPr>
          <p:cNvSpPr/>
          <p:nvPr/>
        </p:nvSpPr>
        <p:spPr>
          <a:xfrm>
            <a:off x="2907963" y="1063648"/>
            <a:ext cx="153813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Local Repo</a:t>
            </a:r>
          </a:p>
        </p:txBody>
      </p:sp>
      <p:sp>
        <p:nvSpPr>
          <p:cNvPr id="20" name="Rectangle 19">
            <a:extLst>
              <a:ext uri="{FF2B5EF4-FFF2-40B4-BE49-F238E27FC236}">
                <a16:creationId xmlns:a16="http://schemas.microsoft.com/office/drawing/2014/main" id="{9930B40D-0D7E-CE4A-A637-7C36188AADDA}"/>
              </a:ext>
            </a:extLst>
          </p:cNvPr>
          <p:cNvSpPr/>
          <p:nvPr/>
        </p:nvSpPr>
        <p:spPr>
          <a:xfrm>
            <a:off x="5089252" y="1063648"/>
            <a:ext cx="153813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Build Code</a:t>
            </a:r>
          </a:p>
        </p:txBody>
      </p:sp>
      <p:sp>
        <p:nvSpPr>
          <p:cNvPr id="21" name="Oval 20">
            <a:extLst>
              <a:ext uri="{FF2B5EF4-FFF2-40B4-BE49-F238E27FC236}">
                <a16:creationId xmlns:a16="http://schemas.microsoft.com/office/drawing/2014/main" id="{2AE55221-B1A6-4648-8B70-F28B23F11C5A}"/>
              </a:ext>
            </a:extLst>
          </p:cNvPr>
          <p:cNvSpPr/>
          <p:nvPr/>
        </p:nvSpPr>
        <p:spPr>
          <a:xfrm>
            <a:off x="10003900" y="4435685"/>
            <a:ext cx="1859078" cy="10416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Results</a:t>
            </a:r>
          </a:p>
        </p:txBody>
      </p:sp>
      <p:sp>
        <p:nvSpPr>
          <p:cNvPr id="22" name="Rectangle 21">
            <a:extLst>
              <a:ext uri="{FF2B5EF4-FFF2-40B4-BE49-F238E27FC236}">
                <a16:creationId xmlns:a16="http://schemas.microsoft.com/office/drawing/2014/main" id="{B7F78C93-BF99-7841-8FC1-77331C0307DF}"/>
              </a:ext>
            </a:extLst>
          </p:cNvPr>
          <p:cNvSpPr/>
          <p:nvPr/>
        </p:nvSpPr>
        <p:spPr>
          <a:xfrm>
            <a:off x="3562473" y="3498592"/>
            <a:ext cx="3648014" cy="29158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B6E7357C-6B40-2B47-85FD-E8BCA6FC2114}"/>
              </a:ext>
            </a:extLst>
          </p:cNvPr>
          <p:cNvCxnSpPr>
            <a:stCxn id="13" idx="3"/>
            <a:endCxn id="19" idx="1"/>
          </p:cNvCxnSpPr>
          <p:nvPr/>
        </p:nvCxnSpPr>
        <p:spPr>
          <a:xfrm>
            <a:off x="2264804" y="1520848"/>
            <a:ext cx="6431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9509CFF-711D-AA4F-BC03-D99F672F86A3}"/>
              </a:ext>
            </a:extLst>
          </p:cNvPr>
          <p:cNvCxnSpPr>
            <a:stCxn id="19" idx="3"/>
            <a:endCxn id="20" idx="1"/>
          </p:cNvCxnSpPr>
          <p:nvPr/>
        </p:nvCxnSpPr>
        <p:spPr>
          <a:xfrm>
            <a:off x="4446093" y="1520848"/>
            <a:ext cx="6431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38A2E17-70FC-1F4E-936B-F4678DADB4FA}"/>
              </a:ext>
            </a:extLst>
          </p:cNvPr>
          <p:cNvCxnSpPr>
            <a:stCxn id="20" idx="3"/>
            <a:endCxn id="14" idx="1"/>
          </p:cNvCxnSpPr>
          <p:nvPr/>
        </p:nvCxnSpPr>
        <p:spPr>
          <a:xfrm>
            <a:off x="6627382" y="1520848"/>
            <a:ext cx="676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006817C-3E9A-584C-AC3B-BEA631F8E4A0}"/>
              </a:ext>
            </a:extLst>
          </p:cNvPr>
          <p:cNvCxnSpPr>
            <a:stCxn id="14" idx="2"/>
            <a:endCxn id="22" idx="0"/>
          </p:cNvCxnSpPr>
          <p:nvPr/>
        </p:nvCxnSpPr>
        <p:spPr>
          <a:xfrm flipH="1">
            <a:off x="5386480" y="1978048"/>
            <a:ext cx="2686683" cy="1520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2296F66-9902-3F40-8885-06224C520166}"/>
              </a:ext>
            </a:extLst>
          </p:cNvPr>
          <p:cNvCxnSpPr>
            <a:cxnSpLocks/>
            <a:stCxn id="22" idx="3"/>
            <a:endCxn id="18" idx="1"/>
          </p:cNvCxnSpPr>
          <p:nvPr/>
        </p:nvCxnSpPr>
        <p:spPr>
          <a:xfrm flipV="1">
            <a:off x="7210487" y="4956500"/>
            <a:ext cx="7011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559FB99-EF35-8E4F-8B35-6D4D1E4C5B51}"/>
              </a:ext>
            </a:extLst>
          </p:cNvPr>
          <p:cNvCxnSpPr>
            <a:stCxn id="18" idx="3"/>
            <a:endCxn id="21" idx="2"/>
          </p:cNvCxnSpPr>
          <p:nvPr/>
        </p:nvCxnSpPr>
        <p:spPr>
          <a:xfrm>
            <a:off x="9449809" y="4956500"/>
            <a:ext cx="55409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FC9CC0B-B706-784B-8836-BD27F27CECB4}"/>
              </a:ext>
            </a:extLst>
          </p:cNvPr>
          <p:cNvCxnSpPr>
            <a:endCxn id="17" idx="1"/>
          </p:cNvCxnSpPr>
          <p:nvPr/>
        </p:nvCxnSpPr>
        <p:spPr>
          <a:xfrm flipV="1">
            <a:off x="5189673" y="4487205"/>
            <a:ext cx="410521" cy="1209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D0E4372-80D7-264A-B553-93B0255647AC}"/>
              </a:ext>
            </a:extLst>
          </p:cNvPr>
          <p:cNvCxnSpPr>
            <a:cxnSpLocks/>
            <a:endCxn id="16" idx="1"/>
          </p:cNvCxnSpPr>
          <p:nvPr/>
        </p:nvCxnSpPr>
        <p:spPr>
          <a:xfrm>
            <a:off x="4129939" y="4827833"/>
            <a:ext cx="600010" cy="731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231210C-D83B-234B-BD3B-23CA22EF558A}"/>
              </a:ext>
            </a:extLst>
          </p:cNvPr>
          <p:cNvCxnSpPr>
            <a:stCxn id="16" idx="3"/>
          </p:cNvCxnSpPr>
          <p:nvPr/>
        </p:nvCxnSpPr>
        <p:spPr>
          <a:xfrm flipV="1">
            <a:off x="6043012" y="4827833"/>
            <a:ext cx="539457" cy="731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B01FDBD-4188-3C4D-953F-B20ADE156964}"/>
              </a:ext>
            </a:extLst>
          </p:cNvPr>
          <p:cNvSpPr txBox="1"/>
          <p:nvPr/>
        </p:nvSpPr>
        <p:spPr>
          <a:xfrm>
            <a:off x="242224" y="208258"/>
            <a:ext cx="3887715" cy="369332"/>
          </a:xfrm>
          <a:prstGeom prst="rect">
            <a:avLst/>
          </a:prstGeom>
          <a:noFill/>
        </p:spPr>
        <p:txBody>
          <a:bodyPr wrap="square" rtlCol="0">
            <a:spAutoFit/>
          </a:bodyPr>
          <a:lstStyle/>
          <a:p>
            <a:r>
              <a:rPr lang="en-US" i="1" dirty="0"/>
              <a:t>Subset of </a:t>
            </a:r>
            <a:r>
              <a:rPr lang="en-US" i="1" dirty="0" err="1"/>
              <a:t>MLOps</a:t>
            </a:r>
            <a:r>
              <a:rPr lang="en-US" i="1" dirty="0"/>
              <a:t> Pipeline in AWS Cloud</a:t>
            </a:r>
          </a:p>
        </p:txBody>
      </p:sp>
      <p:sp>
        <p:nvSpPr>
          <p:cNvPr id="46" name="TextBox 45">
            <a:extLst>
              <a:ext uri="{FF2B5EF4-FFF2-40B4-BE49-F238E27FC236}">
                <a16:creationId xmlns:a16="http://schemas.microsoft.com/office/drawing/2014/main" id="{950EBC6F-0B2A-6649-9E35-F16CC6847422}"/>
              </a:ext>
            </a:extLst>
          </p:cNvPr>
          <p:cNvSpPr txBox="1"/>
          <p:nvPr/>
        </p:nvSpPr>
        <p:spPr>
          <a:xfrm>
            <a:off x="726675" y="2091936"/>
            <a:ext cx="1538130" cy="553998"/>
          </a:xfrm>
          <a:prstGeom prst="rect">
            <a:avLst/>
          </a:prstGeom>
          <a:noFill/>
        </p:spPr>
        <p:txBody>
          <a:bodyPr wrap="square" rtlCol="0">
            <a:spAutoFit/>
          </a:bodyPr>
          <a:lstStyle/>
          <a:p>
            <a:r>
              <a:rPr lang="en-US" sz="1000" dirty="0"/>
              <a:t>Start code repo in AWS </a:t>
            </a:r>
            <a:r>
              <a:rPr lang="en-US" sz="1000" dirty="0" err="1"/>
              <a:t>CodeCommit</a:t>
            </a:r>
            <a:r>
              <a:rPr lang="en-US" sz="1000" dirty="0"/>
              <a:t> to store the project code (or GitHub)</a:t>
            </a:r>
          </a:p>
        </p:txBody>
      </p:sp>
      <p:sp>
        <p:nvSpPr>
          <p:cNvPr id="47" name="TextBox 46">
            <a:extLst>
              <a:ext uri="{FF2B5EF4-FFF2-40B4-BE49-F238E27FC236}">
                <a16:creationId xmlns:a16="http://schemas.microsoft.com/office/drawing/2014/main" id="{C3EBF099-BBF0-2244-AF22-AA6F3DA27128}"/>
              </a:ext>
            </a:extLst>
          </p:cNvPr>
          <p:cNvSpPr txBox="1"/>
          <p:nvPr/>
        </p:nvSpPr>
        <p:spPr>
          <a:xfrm>
            <a:off x="2902519" y="2091936"/>
            <a:ext cx="1538130" cy="553998"/>
          </a:xfrm>
          <a:prstGeom prst="rect">
            <a:avLst/>
          </a:prstGeom>
          <a:noFill/>
        </p:spPr>
        <p:txBody>
          <a:bodyPr wrap="square" rtlCol="0">
            <a:spAutoFit/>
          </a:bodyPr>
          <a:lstStyle/>
          <a:p>
            <a:r>
              <a:rPr lang="en-US" sz="1000" dirty="0"/>
              <a:t>Clone the repo down to local and start coding ML problem in local (i.e. IDE)</a:t>
            </a:r>
          </a:p>
        </p:txBody>
      </p:sp>
      <p:sp>
        <p:nvSpPr>
          <p:cNvPr id="48" name="TextBox 47">
            <a:extLst>
              <a:ext uri="{FF2B5EF4-FFF2-40B4-BE49-F238E27FC236}">
                <a16:creationId xmlns:a16="http://schemas.microsoft.com/office/drawing/2014/main" id="{63447F49-4760-3544-B851-C641F4018D75}"/>
              </a:ext>
            </a:extLst>
          </p:cNvPr>
          <p:cNvSpPr txBox="1"/>
          <p:nvPr/>
        </p:nvSpPr>
        <p:spPr>
          <a:xfrm>
            <a:off x="5115242" y="2091936"/>
            <a:ext cx="1467227" cy="707886"/>
          </a:xfrm>
          <a:prstGeom prst="rect">
            <a:avLst/>
          </a:prstGeom>
          <a:noFill/>
        </p:spPr>
        <p:txBody>
          <a:bodyPr wrap="square" rtlCol="0">
            <a:spAutoFit/>
          </a:bodyPr>
          <a:lstStyle/>
          <a:p>
            <a:r>
              <a:rPr lang="en-US" sz="1000" dirty="0"/>
              <a:t>Code ML models and use </a:t>
            </a:r>
            <a:r>
              <a:rPr lang="en-US" sz="1000" dirty="0" err="1"/>
              <a:t>mlflow</a:t>
            </a:r>
            <a:r>
              <a:rPr lang="en-US" sz="1000" dirty="0"/>
              <a:t> library to log parameters, metrics, artifacts, etc.</a:t>
            </a:r>
          </a:p>
        </p:txBody>
      </p:sp>
      <p:sp>
        <p:nvSpPr>
          <p:cNvPr id="49" name="TextBox 48">
            <a:extLst>
              <a:ext uri="{FF2B5EF4-FFF2-40B4-BE49-F238E27FC236}">
                <a16:creationId xmlns:a16="http://schemas.microsoft.com/office/drawing/2014/main" id="{02230DCE-BD4D-B041-B481-52CFC9FFE8F4}"/>
              </a:ext>
            </a:extLst>
          </p:cNvPr>
          <p:cNvSpPr txBox="1"/>
          <p:nvPr/>
        </p:nvSpPr>
        <p:spPr>
          <a:xfrm>
            <a:off x="9053230" y="1166905"/>
            <a:ext cx="2268225" cy="707886"/>
          </a:xfrm>
          <a:prstGeom prst="rect">
            <a:avLst/>
          </a:prstGeom>
          <a:noFill/>
        </p:spPr>
        <p:txBody>
          <a:bodyPr wrap="square" rtlCol="0">
            <a:spAutoFit/>
          </a:bodyPr>
          <a:lstStyle/>
          <a:p>
            <a:r>
              <a:rPr lang="en-US" sz="1000" dirty="0"/>
              <a:t>Once the code is ready (after testing locally), push the code to AWS </a:t>
            </a:r>
            <a:r>
              <a:rPr lang="en-US" sz="1000" dirty="0" err="1"/>
              <a:t>CodeCommit</a:t>
            </a:r>
            <a:r>
              <a:rPr lang="en-US" sz="1000" dirty="0"/>
              <a:t> to do experimentation and deployment directly in </a:t>
            </a:r>
            <a:r>
              <a:rPr lang="en-US" sz="1000" dirty="0" err="1"/>
              <a:t>SageMaker</a:t>
            </a:r>
            <a:r>
              <a:rPr lang="en-US" sz="1000" dirty="0"/>
              <a:t>.</a:t>
            </a:r>
          </a:p>
        </p:txBody>
      </p:sp>
      <p:sp>
        <p:nvSpPr>
          <p:cNvPr id="50" name="TextBox 49">
            <a:extLst>
              <a:ext uri="{FF2B5EF4-FFF2-40B4-BE49-F238E27FC236}">
                <a16:creationId xmlns:a16="http://schemas.microsoft.com/office/drawing/2014/main" id="{8D38BB23-7017-8848-92F1-FB0F43B19051}"/>
              </a:ext>
            </a:extLst>
          </p:cNvPr>
          <p:cNvSpPr txBox="1"/>
          <p:nvPr/>
        </p:nvSpPr>
        <p:spPr>
          <a:xfrm>
            <a:off x="170143" y="3525339"/>
            <a:ext cx="3279797" cy="2862322"/>
          </a:xfrm>
          <a:prstGeom prst="rect">
            <a:avLst/>
          </a:prstGeom>
          <a:noFill/>
        </p:spPr>
        <p:txBody>
          <a:bodyPr wrap="square" rtlCol="0">
            <a:spAutoFit/>
          </a:bodyPr>
          <a:lstStyle/>
          <a:p>
            <a:r>
              <a:rPr lang="en-US" sz="1000" dirty="0"/>
              <a:t>Train and log models using AWS </a:t>
            </a:r>
            <a:r>
              <a:rPr lang="en-US" sz="1000" dirty="0" err="1"/>
              <a:t>SageMaker</a:t>
            </a:r>
            <a:r>
              <a:rPr lang="en-US" sz="1000" dirty="0"/>
              <a:t> and </a:t>
            </a:r>
            <a:r>
              <a:rPr lang="en-US" sz="1000" dirty="0" err="1"/>
              <a:t>mlflow</a:t>
            </a:r>
            <a:r>
              <a:rPr lang="en-US" sz="1000" dirty="0"/>
              <a:t> tracking server respectively. Import the </a:t>
            </a:r>
            <a:r>
              <a:rPr lang="en-US" sz="1000" dirty="0" err="1"/>
              <a:t>CodeCommit</a:t>
            </a:r>
            <a:r>
              <a:rPr lang="en-US" sz="1000" dirty="0"/>
              <a:t> repo to AWS </a:t>
            </a:r>
            <a:r>
              <a:rPr lang="en-US" sz="1000" dirty="0" err="1"/>
              <a:t>SageMaker</a:t>
            </a:r>
            <a:r>
              <a:rPr lang="en-US" sz="1000" dirty="0"/>
              <a:t> and start model training while experimenting with different models and hyperparameters. The </a:t>
            </a:r>
            <a:r>
              <a:rPr lang="en-US" sz="1000" dirty="0" err="1"/>
              <a:t>mlflow</a:t>
            </a:r>
            <a:r>
              <a:rPr lang="en-US" sz="1000" dirty="0"/>
              <a:t> tracking server is not hosted locally but instead will be hosted on AWS EC2 instance. Spin up an EC2 instance and install </a:t>
            </a:r>
            <a:r>
              <a:rPr lang="en-US" sz="1000" dirty="0" err="1"/>
              <a:t>mlflow</a:t>
            </a:r>
            <a:r>
              <a:rPr lang="en-US" sz="1000" dirty="0"/>
              <a:t> in it and start the tracking server. While all the parameters, metrics, tags, and other metadata will be stored on that tracking server, model artifacts will get stored in a S3 bucket. Once we are done with experimentation, multiple models would get created, where we have to select the best model to deploy to production. The next step is model comparison and selection. Utilize the </a:t>
            </a:r>
            <a:r>
              <a:rPr lang="en-US" sz="1000" dirty="0" err="1"/>
              <a:t>mlflow</a:t>
            </a:r>
            <a:r>
              <a:rPr lang="en-US" sz="1000" dirty="0"/>
              <a:t> tracking server (aka </a:t>
            </a:r>
            <a:r>
              <a:rPr lang="en-US" sz="1000" dirty="0" err="1"/>
              <a:t>mlflow</a:t>
            </a:r>
            <a:r>
              <a:rPr lang="en-US" sz="1000" dirty="0"/>
              <a:t> UI) to compare all kinds of generated models from different runs and select the best performing model having best evaluation metrics. Go ahead and start the model deployment process when the best model is found. </a:t>
            </a:r>
          </a:p>
        </p:txBody>
      </p:sp>
      <p:sp>
        <p:nvSpPr>
          <p:cNvPr id="51" name="TextBox 50">
            <a:extLst>
              <a:ext uri="{FF2B5EF4-FFF2-40B4-BE49-F238E27FC236}">
                <a16:creationId xmlns:a16="http://schemas.microsoft.com/office/drawing/2014/main" id="{275369B4-C694-1C42-81C1-8302F43F3342}"/>
              </a:ext>
            </a:extLst>
          </p:cNvPr>
          <p:cNvSpPr txBox="1"/>
          <p:nvPr/>
        </p:nvSpPr>
        <p:spPr>
          <a:xfrm>
            <a:off x="7911679" y="3561223"/>
            <a:ext cx="2636578" cy="861774"/>
          </a:xfrm>
          <a:prstGeom prst="rect">
            <a:avLst/>
          </a:prstGeom>
          <a:noFill/>
        </p:spPr>
        <p:txBody>
          <a:bodyPr wrap="square" rtlCol="0">
            <a:spAutoFit/>
          </a:bodyPr>
          <a:lstStyle/>
          <a:p>
            <a:r>
              <a:rPr lang="en-US" sz="1000" dirty="0"/>
              <a:t>Use </a:t>
            </a:r>
            <a:r>
              <a:rPr lang="en-US" sz="1000" dirty="0" err="1"/>
              <a:t>mlflow</a:t>
            </a:r>
            <a:r>
              <a:rPr lang="en-US" sz="1000" dirty="0"/>
              <a:t> only to deploy the selected best model. Deployment would be 2 steps: build a docker image of our code and create a </a:t>
            </a:r>
            <a:r>
              <a:rPr lang="en-US" sz="1000" dirty="0" err="1"/>
              <a:t>SageMaker</a:t>
            </a:r>
            <a:r>
              <a:rPr lang="en-US" sz="1000" dirty="0"/>
              <a:t> endpoint from it. Endpoint is like a serverless API running on </a:t>
            </a:r>
            <a:r>
              <a:rPr lang="en-US" sz="1000" dirty="0" err="1"/>
              <a:t>SageMaker</a:t>
            </a:r>
            <a:r>
              <a:rPr lang="en-US" sz="1000" dirty="0"/>
              <a:t>.</a:t>
            </a:r>
          </a:p>
        </p:txBody>
      </p:sp>
      <p:sp>
        <p:nvSpPr>
          <p:cNvPr id="53" name="TextBox 52">
            <a:extLst>
              <a:ext uri="{FF2B5EF4-FFF2-40B4-BE49-F238E27FC236}">
                <a16:creationId xmlns:a16="http://schemas.microsoft.com/office/drawing/2014/main" id="{0A6DFAF2-5917-7245-931F-808DE9E701CB}"/>
              </a:ext>
            </a:extLst>
          </p:cNvPr>
          <p:cNvSpPr txBox="1"/>
          <p:nvPr/>
        </p:nvSpPr>
        <p:spPr>
          <a:xfrm>
            <a:off x="7911680" y="5473295"/>
            <a:ext cx="1620448" cy="707886"/>
          </a:xfrm>
          <a:prstGeom prst="rect">
            <a:avLst/>
          </a:prstGeom>
          <a:noFill/>
        </p:spPr>
        <p:txBody>
          <a:bodyPr wrap="square" rtlCol="0">
            <a:spAutoFit/>
          </a:bodyPr>
          <a:lstStyle/>
          <a:p>
            <a:r>
              <a:rPr lang="en-US" sz="1000" dirty="0"/>
              <a:t>Once the endpoint is up and running, we can infer from the model and start serving our clients.</a:t>
            </a:r>
          </a:p>
        </p:txBody>
      </p:sp>
      <p:sp>
        <p:nvSpPr>
          <p:cNvPr id="54" name="TextBox 53">
            <a:extLst>
              <a:ext uri="{FF2B5EF4-FFF2-40B4-BE49-F238E27FC236}">
                <a16:creationId xmlns:a16="http://schemas.microsoft.com/office/drawing/2014/main" id="{6960D441-E8F8-804B-A08F-DBEE55BAEC8D}"/>
              </a:ext>
            </a:extLst>
          </p:cNvPr>
          <p:cNvSpPr txBox="1"/>
          <p:nvPr/>
        </p:nvSpPr>
        <p:spPr>
          <a:xfrm>
            <a:off x="10187343" y="5598800"/>
            <a:ext cx="1627494" cy="1015663"/>
          </a:xfrm>
          <a:prstGeom prst="rect">
            <a:avLst/>
          </a:prstGeom>
          <a:noFill/>
        </p:spPr>
        <p:txBody>
          <a:bodyPr wrap="square" rtlCol="0">
            <a:spAutoFit/>
          </a:bodyPr>
          <a:lstStyle/>
          <a:p>
            <a:r>
              <a:rPr lang="en-US" sz="1000" dirty="0"/>
              <a:t>As part of inferencing, we can create a small test script and print the prediction results to see if the system is working properly.</a:t>
            </a:r>
          </a:p>
        </p:txBody>
      </p:sp>
      <p:sp>
        <p:nvSpPr>
          <p:cNvPr id="31" name="TextBox 30">
            <a:extLst>
              <a:ext uri="{FF2B5EF4-FFF2-40B4-BE49-F238E27FC236}">
                <a16:creationId xmlns:a16="http://schemas.microsoft.com/office/drawing/2014/main" id="{DDB28BA5-F3CE-1D4E-AB00-62DC0C6AC8DA}"/>
              </a:ext>
            </a:extLst>
          </p:cNvPr>
          <p:cNvSpPr txBox="1"/>
          <p:nvPr/>
        </p:nvSpPr>
        <p:spPr>
          <a:xfrm>
            <a:off x="3847830" y="3746466"/>
            <a:ext cx="1341843" cy="400110"/>
          </a:xfrm>
          <a:prstGeom prst="rect">
            <a:avLst/>
          </a:prstGeom>
          <a:noFill/>
        </p:spPr>
        <p:txBody>
          <a:bodyPr wrap="square" rtlCol="0">
            <a:spAutoFit/>
          </a:bodyPr>
          <a:lstStyle/>
          <a:p>
            <a:r>
              <a:rPr lang="en-US" sz="1000" dirty="0">
                <a:solidFill>
                  <a:srgbClr val="FF0000"/>
                </a:solidFill>
              </a:rPr>
              <a:t>Setup </a:t>
            </a:r>
            <a:r>
              <a:rPr lang="en-US" sz="1000" dirty="0" err="1">
                <a:solidFill>
                  <a:srgbClr val="FF0000"/>
                </a:solidFill>
              </a:rPr>
              <a:t>mlflow</a:t>
            </a:r>
            <a:r>
              <a:rPr lang="en-US" sz="1000" dirty="0">
                <a:solidFill>
                  <a:srgbClr val="FF0000"/>
                </a:solidFill>
              </a:rPr>
              <a:t> tracking server on EC2</a:t>
            </a:r>
          </a:p>
        </p:txBody>
      </p:sp>
      <p:sp>
        <p:nvSpPr>
          <p:cNvPr id="32" name="TextBox 31">
            <a:extLst>
              <a:ext uri="{FF2B5EF4-FFF2-40B4-BE49-F238E27FC236}">
                <a16:creationId xmlns:a16="http://schemas.microsoft.com/office/drawing/2014/main" id="{D0E1DC56-44DD-B248-AC50-2790F6D7C8FA}"/>
              </a:ext>
            </a:extLst>
          </p:cNvPr>
          <p:cNvSpPr txBox="1"/>
          <p:nvPr/>
        </p:nvSpPr>
        <p:spPr>
          <a:xfrm>
            <a:off x="4724011" y="5906576"/>
            <a:ext cx="1341843" cy="400110"/>
          </a:xfrm>
          <a:prstGeom prst="rect">
            <a:avLst/>
          </a:prstGeom>
          <a:noFill/>
        </p:spPr>
        <p:txBody>
          <a:bodyPr wrap="square" rtlCol="0">
            <a:spAutoFit/>
          </a:bodyPr>
          <a:lstStyle/>
          <a:p>
            <a:r>
              <a:rPr lang="en-US" sz="1000" dirty="0">
                <a:solidFill>
                  <a:srgbClr val="FF0000"/>
                </a:solidFill>
              </a:rPr>
              <a:t>Create S3 bucket to store </a:t>
            </a:r>
            <a:r>
              <a:rPr lang="en-US" sz="1000" dirty="0" err="1">
                <a:solidFill>
                  <a:srgbClr val="FF0000"/>
                </a:solidFill>
              </a:rPr>
              <a:t>mlflow</a:t>
            </a:r>
            <a:r>
              <a:rPr lang="en-US" sz="1000" dirty="0">
                <a:solidFill>
                  <a:srgbClr val="FF0000"/>
                </a:solidFill>
              </a:rPr>
              <a:t> artifacts</a:t>
            </a:r>
          </a:p>
        </p:txBody>
      </p:sp>
      <p:sp>
        <p:nvSpPr>
          <p:cNvPr id="33" name="TextBox 32">
            <a:extLst>
              <a:ext uri="{FF2B5EF4-FFF2-40B4-BE49-F238E27FC236}">
                <a16:creationId xmlns:a16="http://schemas.microsoft.com/office/drawing/2014/main" id="{2506A21A-4E9F-1A41-9D4C-D26FCA48B08C}"/>
              </a:ext>
            </a:extLst>
          </p:cNvPr>
          <p:cNvSpPr txBox="1"/>
          <p:nvPr/>
        </p:nvSpPr>
        <p:spPr>
          <a:xfrm>
            <a:off x="653795" y="663078"/>
            <a:ext cx="1611009" cy="400110"/>
          </a:xfrm>
          <a:prstGeom prst="rect">
            <a:avLst/>
          </a:prstGeom>
          <a:noFill/>
        </p:spPr>
        <p:txBody>
          <a:bodyPr wrap="square" rtlCol="0">
            <a:spAutoFit/>
          </a:bodyPr>
          <a:lstStyle/>
          <a:p>
            <a:r>
              <a:rPr lang="en-US" sz="1000" dirty="0">
                <a:solidFill>
                  <a:srgbClr val="FF0000"/>
                </a:solidFill>
              </a:rPr>
              <a:t>Create empty </a:t>
            </a:r>
            <a:r>
              <a:rPr lang="en-US" sz="1000" dirty="0" err="1">
                <a:solidFill>
                  <a:srgbClr val="FF0000"/>
                </a:solidFill>
              </a:rPr>
              <a:t>CodeCommit</a:t>
            </a:r>
            <a:r>
              <a:rPr lang="en-US" sz="1000" dirty="0">
                <a:solidFill>
                  <a:srgbClr val="FF0000"/>
                </a:solidFill>
              </a:rPr>
              <a:t> Repo to store code</a:t>
            </a:r>
          </a:p>
        </p:txBody>
      </p:sp>
      <p:sp>
        <p:nvSpPr>
          <p:cNvPr id="35" name="TextBox 34">
            <a:extLst>
              <a:ext uri="{FF2B5EF4-FFF2-40B4-BE49-F238E27FC236}">
                <a16:creationId xmlns:a16="http://schemas.microsoft.com/office/drawing/2014/main" id="{4FC56B60-1CFD-534C-AC5B-A45CC81BE695}"/>
              </a:ext>
            </a:extLst>
          </p:cNvPr>
          <p:cNvSpPr txBox="1"/>
          <p:nvPr/>
        </p:nvSpPr>
        <p:spPr>
          <a:xfrm>
            <a:off x="5089252" y="527400"/>
            <a:ext cx="1860445" cy="400110"/>
          </a:xfrm>
          <a:prstGeom prst="rect">
            <a:avLst/>
          </a:prstGeom>
          <a:noFill/>
        </p:spPr>
        <p:txBody>
          <a:bodyPr wrap="square" rtlCol="0">
            <a:spAutoFit/>
          </a:bodyPr>
          <a:lstStyle/>
          <a:p>
            <a:r>
              <a:rPr lang="en-US" sz="1000" dirty="0">
                <a:solidFill>
                  <a:srgbClr val="FF0000"/>
                </a:solidFill>
              </a:rPr>
              <a:t>Build ML solution, run it locally, and push to </a:t>
            </a:r>
            <a:r>
              <a:rPr lang="en-US" sz="1000" dirty="0" err="1">
                <a:solidFill>
                  <a:srgbClr val="FF0000"/>
                </a:solidFill>
              </a:rPr>
              <a:t>CodeCommit</a:t>
            </a:r>
            <a:r>
              <a:rPr lang="en-US" sz="1000" dirty="0">
                <a:solidFill>
                  <a:srgbClr val="FF0000"/>
                </a:solidFill>
              </a:rPr>
              <a:t> repo</a:t>
            </a:r>
          </a:p>
        </p:txBody>
      </p:sp>
      <p:sp>
        <p:nvSpPr>
          <p:cNvPr id="36" name="TextBox 35">
            <a:extLst>
              <a:ext uri="{FF2B5EF4-FFF2-40B4-BE49-F238E27FC236}">
                <a16:creationId xmlns:a16="http://schemas.microsoft.com/office/drawing/2014/main" id="{3861C0E7-AD45-FC4E-B15E-153752161610}"/>
              </a:ext>
            </a:extLst>
          </p:cNvPr>
          <p:cNvSpPr txBox="1"/>
          <p:nvPr/>
        </p:nvSpPr>
        <p:spPr>
          <a:xfrm>
            <a:off x="7226428" y="264252"/>
            <a:ext cx="2699802" cy="707886"/>
          </a:xfrm>
          <a:prstGeom prst="rect">
            <a:avLst/>
          </a:prstGeom>
          <a:noFill/>
        </p:spPr>
        <p:txBody>
          <a:bodyPr wrap="square" rtlCol="0">
            <a:spAutoFit/>
          </a:bodyPr>
          <a:lstStyle/>
          <a:p>
            <a:r>
              <a:rPr lang="en-US" sz="1000" dirty="0">
                <a:solidFill>
                  <a:srgbClr val="FF0000"/>
                </a:solidFill>
              </a:rPr>
              <a:t>Use </a:t>
            </a:r>
            <a:r>
              <a:rPr lang="en-US" sz="1000" dirty="0" err="1">
                <a:solidFill>
                  <a:srgbClr val="FF0000"/>
                </a:solidFill>
              </a:rPr>
              <a:t>CodeCommit</a:t>
            </a:r>
            <a:r>
              <a:rPr lang="en-US" sz="1000" dirty="0">
                <a:solidFill>
                  <a:srgbClr val="FF0000"/>
                </a:solidFill>
              </a:rPr>
              <a:t> repo to start experimentation, model trainings, etc. using AWS </a:t>
            </a:r>
            <a:r>
              <a:rPr lang="en-US" sz="1000" dirty="0" err="1">
                <a:solidFill>
                  <a:srgbClr val="FF0000"/>
                </a:solidFill>
              </a:rPr>
              <a:t>SageMaker</a:t>
            </a:r>
            <a:r>
              <a:rPr lang="en-US" sz="1000" dirty="0">
                <a:solidFill>
                  <a:srgbClr val="FF0000"/>
                </a:solidFill>
              </a:rPr>
              <a:t> while logging the entities to </a:t>
            </a:r>
            <a:r>
              <a:rPr lang="en-US" sz="1000" dirty="0" err="1">
                <a:solidFill>
                  <a:srgbClr val="FF0000"/>
                </a:solidFill>
              </a:rPr>
              <a:t>mlflow</a:t>
            </a:r>
            <a:r>
              <a:rPr lang="en-US" sz="1000" dirty="0">
                <a:solidFill>
                  <a:srgbClr val="FF0000"/>
                </a:solidFill>
              </a:rPr>
              <a:t> tracking server on EC2 instance.</a:t>
            </a:r>
          </a:p>
        </p:txBody>
      </p:sp>
      <p:sp>
        <p:nvSpPr>
          <p:cNvPr id="38" name="TextBox 37">
            <a:extLst>
              <a:ext uri="{FF2B5EF4-FFF2-40B4-BE49-F238E27FC236}">
                <a16:creationId xmlns:a16="http://schemas.microsoft.com/office/drawing/2014/main" id="{59F1D191-4F00-6E4F-B9B5-C246EB179C44}"/>
              </a:ext>
            </a:extLst>
          </p:cNvPr>
          <p:cNvSpPr txBox="1"/>
          <p:nvPr/>
        </p:nvSpPr>
        <p:spPr>
          <a:xfrm>
            <a:off x="7224969" y="2482929"/>
            <a:ext cx="2947891" cy="1015663"/>
          </a:xfrm>
          <a:prstGeom prst="rect">
            <a:avLst/>
          </a:prstGeom>
          <a:noFill/>
        </p:spPr>
        <p:txBody>
          <a:bodyPr wrap="square" rtlCol="0">
            <a:spAutoFit/>
          </a:bodyPr>
          <a:lstStyle/>
          <a:p>
            <a:r>
              <a:rPr lang="en-US" sz="1000" dirty="0">
                <a:solidFill>
                  <a:srgbClr val="FF0000"/>
                </a:solidFill>
              </a:rPr>
              <a:t>Setup </a:t>
            </a:r>
            <a:r>
              <a:rPr lang="en-US" sz="1000" dirty="0" err="1">
                <a:solidFill>
                  <a:srgbClr val="FF0000"/>
                </a:solidFill>
              </a:rPr>
              <a:t>SageMaker</a:t>
            </a:r>
            <a:r>
              <a:rPr lang="en-US" sz="1000" dirty="0">
                <a:solidFill>
                  <a:srgbClr val="FF0000"/>
                </a:solidFill>
              </a:rPr>
              <a:t> notebook instance for our </a:t>
            </a:r>
            <a:r>
              <a:rPr lang="en-US" sz="1000" dirty="0" err="1">
                <a:solidFill>
                  <a:srgbClr val="FF0000"/>
                </a:solidFill>
              </a:rPr>
              <a:t>CodeCommit</a:t>
            </a:r>
            <a:r>
              <a:rPr lang="en-US" sz="1000" dirty="0">
                <a:solidFill>
                  <a:srgbClr val="FF0000"/>
                </a:solidFill>
              </a:rPr>
              <a:t> repo, do some experimentation, train models while logging the artifacts, hyperparameters, etc. to </a:t>
            </a:r>
            <a:r>
              <a:rPr lang="en-US" sz="1000" dirty="0" err="1">
                <a:solidFill>
                  <a:srgbClr val="FF0000"/>
                </a:solidFill>
              </a:rPr>
              <a:t>mlflow</a:t>
            </a:r>
            <a:r>
              <a:rPr lang="en-US" sz="1000" dirty="0">
                <a:solidFill>
                  <a:srgbClr val="FF0000"/>
                </a:solidFill>
              </a:rPr>
              <a:t> tracking server. Then after doing the evaluation metrics comparison of the resulting models, we deploy the best one.</a:t>
            </a:r>
          </a:p>
        </p:txBody>
      </p:sp>
    </p:spTree>
    <p:extLst>
      <p:ext uri="{BB962C8B-B14F-4D97-AF65-F5344CB8AC3E}">
        <p14:creationId xmlns:p14="http://schemas.microsoft.com/office/powerpoint/2010/main" val="3468036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F7F95-B07B-604E-83E1-51F3596D29FF}"/>
              </a:ext>
            </a:extLst>
          </p:cNvPr>
          <p:cNvSpPr>
            <a:spLocks noGrp="1"/>
          </p:cNvSpPr>
          <p:nvPr>
            <p:ph type="title"/>
          </p:nvPr>
        </p:nvSpPr>
        <p:spPr/>
        <p:txBody>
          <a:bodyPr/>
          <a:lstStyle/>
          <a:p>
            <a:r>
              <a:rPr lang="en-US" dirty="0"/>
              <a:t>Model Evaluation &amp; Comparison</a:t>
            </a:r>
          </a:p>
        </p:txBody>
      </p:sp>
      <p:sp>
        <p:nvSpPr>
          <p:cNvPr id="3" name="Content Placeholder 2">
            <a:extLst>
              <a:ext uri="{FF2B5EF4-FFF2-40B4-BE49-F238E27FC236}">
                <a16:creationId xmlns:a16="http://schemas.microsoft.com/office/drawing/2014/main" id="{E3414155-8543-9B42-AFFA-B438DD448B89}"/>
              </a:ext>
            </a:extLst>
          </p:cNvPr>
          <p:cNvSpPr>
            <a:spLocks noGrp="1"/>
          </p:cNvSpPr>
          <p:nvPr>
            <p:ph idx="1"/>
          </p:nvPr>
        </p:nvSpPr>
        <p:spPr/>
        <p:txBody>
          <a:bodyPr/>
          <a:lstStyle/>
          <a:p>
            <a:r>
              <a:rPr lang="en-US" dirty="0"/>
              <a:t>Each experiment trains a single type of model (</a:t>
            </a:r>
            <a:r>
              <a:rPr lang="en-US" dirty="0" err="1"/>
              <a:t>Xgb</a:t>
            </a:r>
            <a:r>
              <a:rPr lang="en-US" dirty="0"/>
              <a:t>, ridge, </a:t>
            </a:r>
            <a:r>
              <a:rPr lang="en-US" dirty="0" err="1"/>
              <a:t>elasticnet</a:t>
            </a:r>
            <a:r>
              <a:rPr lang="en-US" dirty="0"/>
              <a:t>)</a:t>
            </a:r>
          </a:p>
          <a:p>
            <a:pPr lvl="1"/>
            <a:r>
              <a:rPr lang="en-US" dirty="0"/>
              <a:t>3 experiments total</a:t>
            </a:r>
          </a:p>
          <a:p>
            <a:r>
              <a:rPr lang="en-US" dirty="0"/>
              <a:t>Multiple runs inside each experiment testing different combinations of parameters based on specified dictionary</a:t>
            </a:r>
          </a:p>
          <a:p>
            <a:r>
              <a:rPr lang="en-US" dirty="0"/>
              <a:t>How to pick best model?</a:t>
            </a:r>
          </a:p>
          <a:p>
            <a:pPr lvl="1"/>
            <a:r>
              <a:rPr lang="en-US" dirty="0"/>
              <a:t>For each experiment, pick the best run. Register the model under same registry.</a:t>
            </a:r>
          </a:p>
          <a:p>
            <a:pPr lvl="1"/>
            <a:r>
              <a:rPr lang="en-US" dirty="0"/>
              <a:t>Compare best runs from each experiment.</a:t>
            </a:r>
          </a:p>
          <a:p>
            <a:pPr lvl="1"/>
            <a:r>
              <a:rPr lang="en-US" dirty="0"/>
              <a:t>Get the best model.</a:t>
            </a:r>
          </a:p>
        </p:txBody>
      </p:sp>
    </p:spTree>
    <p:extLst>
      <p:ext uri="{BB962C8B-B14F-4D97-AF65-F5344CB8AC3E}">
        <p14:creationId xmlns:p14="http://schemas.microsoft.com/office/powerpoint/2010/main" val="2256831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09647-FB78-7446-92BA-4B6993D244B5}"/>
              </a:ext>
            </a:extLst>
          </p:cNvPr>
          <p:cNvSpPr>
            <a:spLocks noGrp="1"/>
          </p:cNvSpPr>
          <p:nvPr>
            <p:ph type="title"/>
          </p:nvPr>
        </p:nvSpPr>
        <p:spPr/>
        <p:txBody>
          <a:bodyPr/>
          <a:lstStyle/>
          <a:p>
            <a:r>
              <a:rPr lang="en-US" dirty="0"/>
              <a:t>Model Deployment on AWS </a:t>
            </a:r>
            <a:r>
              <a:rPr lang="en-US" dirty="0" err="1"/>
              <a:t>SageMaker</a:t>
            </a:r>
            <a:endParaRPr lang="en-US" dirty="0"/>
          </a:p>
        </p:txBody>
      </p:sp>
      <p:sp>
        <p:nvSpPr>
          <p:cNvPr id="3" name="Content Placeholder 2">
            <a:extLst>
              <a:ext uri="{FF2B5EF4-FFF2-40B4-BE49-F238E27FC236}">
                <a16:creationId xmlns:a16="http://schemas.microsoft.com/office/drawing/2014/main" id="{D3A5B338-2CA5-594D-A4D2-E6E14C1ECA4B}"/>
              </a:ext>
            </a:extLst>
          </p:cNvPr>
          <p:cNvSpPr>
            <a:spLocks noGrp="1"/>
          </p:cNvSpPr>
          <p:nvPr>
            <p:ph idx="1"/>
          </p:nvPr>
        </p:nvSpPr>
        <p:spPr/>
        <p:txBody>
          <a:bodyPr/>
          <a:lstStyle/>
          <a:p>
            <a:r>
              <a:rPr lang="en-US" dirty="0" err="1"/>
              <a:t>mlflow</a:t>
            </a:r>
            <a:r>
              <a:rPr lang="en-US" dirty="0"/>
              <a:t> </a:t>
            </a:r>
            <a:r>
              <a:rPr lang="en-US" dirty="0" err="1"/>
              <a:t>sagemaker</a:t>
            </a:r>
            <a:r>
              <a:rPr lang="en-US" dirty="0"/>
              <a:t> build-and-push-container</a:t>
            </a:r>
          </a:p>
          <a:p>
            <a:pPr lvl="1"/>
            <a:r>
              <a:rPr lang="en-US" dirty="0"/>
              <a:t>This command is responsible for building and pushing a docker container image that encapsulates the </a:t>
            </a:r>
            <a:r>
              <a:rPr lang="en-US" dirty="0" err="1"/>
              <a:t>mlflow</a:t>
            </a:r>
            <a:r>
              <a:rPr lang="en-US" dirty="0"/>
              <a:t> model along with its dependencies and configurations suitable for deployment on AWS </a:t>
            </a:r>
            <a:r>
              <a:rPr lang="en-US" dirty="0" err="1"/>
              <a:t>SageMaker</a:t>
            </a:r>
            <a:r>
              <a:rPr lang="en-US" dirty="0"/>
              <a:t>.</a:t>
            </a:r>
          </a:p>
          <a:p>
            <a:pPr lvl="1"/>
            <a:r>
              <a:rPr lang="en-US" dirty="0" err="1"/>
              <a:t>Mlflow</a:t>
            </a:r>
            <a:r>
              <a:rPr lang="en-US" dirty="0"/>
              <a:t> prepares a docker image that includes the necessary dependencies and configurations specified for the model deployment</a:t>
            </a:r>
          </a:p>
          <a:p>
            <a:pPr lvl="1"/>
            <a:r>
              <a:rPr lang="en-US" dirty="0"/>
              <a:t>Once the image is built, it is pushed to Amazon ECR, which is AWS managed docker container registry. This makes the container image accessible and ready for deployment on AWS </a:t>
            </a:r>
            <a:r>
              <a:rPr lang="en-US" dirty="0" err="1"/>
              <a:t>SageMaker</a:t>
            </a:r>
            <a:r>
              <a:rPr lang="en-US" dirty="0"/>
              <a:t>.</a:t>
            </a:r>
          </a:p>
        </p:txBody>
      </p:sp>
    </p:spTree>
    <p:extLst>
      <p:ext uri="{BB962C8B-B14F-4D97-AF65-F5344CB8AC3E}">
        <p14:creationId xmlns:p14="http://schemas.microsoft.com/office/powerpoint/2010/main" val="2789823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19E9-5A54-974E-888E-D9649D69310B}"/>
              </a:ext>
            </a:extLst>
          </p:cNvPr>
          <p:cNvSpPr>
            <a:spLocks noGrp="1"/>
          </p:cNvSpPr>
          <p:nvPr>
            <p:ph type="title"/>
          </p:nvPr>
        </p:nvSpPr>
        <p:spPr/>
        <p:txBody>
          <a:bodyPr/>
          <a:lstStyle/>
          <a:p>
            <a:r>
              <a:rPr lang="en-US" dirty="0"/>
              <a:t>Deployment (cont.)</a:t>
            </a:r>
          </a:p>
        </p:txBody>
      </p:sp>
      <p:sp>
        <p:nvSpPr>
          <p:cNvPr id="3" name="Content Placeholder 2">
            <a:extLst>
              <a:ext uri="{FF2B5EF4-FFF2-40B4-BE49-F238E27FC236}">
                <a16:creationId xmlns:a16="http://schemas.microsoft.com/office/drawing/2014/main" id="{8B129C0F-2631-F040-87DF-F0F0244D94D3}"/>
              </a:ext>
            </a:extLst>
          </p:cNvPr>
          <p:cNvSpPr>
            <a:spLocks noGrp="1"/>
          </p:cNvSpPr>
          <p:nvPr>
            <p:ph idx="1"/>
          </p:nvPr>
        </p:nvSpPr>
        <p:spPr/>
        <p:txBody>
          <a:bodyPr/>
          <a:lstStyle/>
          <a:p>
            <a:r>
              <a:rPr lang="en-US" dirty="0"/>
              <a:t>Once the docker image is created of our code and pushed it to ECR, we can deploy it and create an endpoint out of it which can be then used to serve our model.</a:t>
            </a:r>
          </a:p>
          <a:p>
            <a:r>
              <a:rPr lang="en-US" dirty="0"/>
              <a:t>2 ways to create the endpoint: CLI command vs Python code</a:t>
            </a:r>
          </a:p>
          <a:p>
            <a:r>
              <a:rPr lang="en-US" dirty="0"/>
              <a:t>Get predictions </a:t>
            </a:r>
            <a:r>
              <a:rPr lang="en-US" dirty="0">
                <a:sym typeface="Wingdings" pitchFamily="2" charset="2"/>
              </a:rPr>
              <a:t> can be passed to downstream applications to create dashboard or trigger a new pipeline</a:t>
            </a:r>
            <a:endParaRPr lang="en-US" dirty="0"/>
          </a:p>
          <a:p>
            <a:pPr marL="0" indent="0">
              <a:buNone/>
            </a:pPr>
            <a:endParaRPr lang="en-US" dirty="0"/>
          </a:p>
        </p:txBody>
      </p:sp>
    </p:spTree>
    <p:extLst>
      <p:ext uri="{BB962C8B-B14F-4D97-AF65-F5344CB8AC3E}">
        <p14:creationId xmlns:p14="http://schemas.microsoft.com/office/powerpoint/2010/main" val="1102798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025A-269A-844D-95E3-4C861BE3C64A}"/>
              </a:ext>
            </a:extLst>
          </p:cNvPr>
          <p:cNvSpPr>
            <a:spLocks noGrp="1"/>
          </p:cNvSpPr>
          <p:nvPr>
            <p:ph type="title"/>
          </p:nvPr>
        </p:nvSpPr>
        <p:spPr/>
        <p:txBody>
          <a:bodyPr/>
          <a:lstStyle/>
          <a:p>
            <a:r>
              <a:rPr lang="en-US" dirty="0"/>
              <a:t>Wrap up</a:t>
            </a:r>
          </a:p>
        </p:txBody>
      </p:sp>
      <p:sp>
        <p:nvSpPr>
          <p:cNvPr id="3" name="Content Placeholder 2">
            <a:extLst>
              <a:ext uri="{FF2B5EF4-FFF2-40B4-BE49-F238E27FC236}">
                <a16:creationId xmlns:a16="http://schemas.microsoft.com/office/drawing/2014/main" id="{DD07EF5E-1A1D-A44F-BD07-57BA07EFD6E1}"/>
              </a:ext>
            </a:extLst>
          </p:cNvPr>
          <p:cNvSpPr>
            <a:spLocks noGrp="1"/>
          </p:cNvSpPr>
          <p:nvPr>
            <p:ph idx="1"/>
          </p:nvPr>
        </p:nvSpPr>
        <p:spPr/>
        <p:txBody>
          <a:bodyPr/>
          <a:lstStyle/>
          <a:p>
            <a:r>
              <a:rPr lang="en-US" dirty="0"/>
              <a:t>Delete the endpoint</a:t>
            </a:r>
          </a:p>
          <a:p>
            <a:r>
              <a:rPr lang="en-US" dirty="0"/>
              <a:t>Stop </a:t>
            </a:r>
            <a:r>
              <a:rPr lang="en-US" dirty="0" err="1"/>
              <a:t>SageMaker</a:t>
            </a:r>
            <a:r>
              <a:rPr lang="en-US" dirty="0"/>
              <a:t> notebook instance</a:t>
            </a:r>
          </a:p>
          <a:p>
            <a:r>
              <a:rPr lang="en-US" dirty="0"/>
              <a:t>Stop EC2 </a:t>
            </a:r>
            <a:r>
              <a:rPr lang="en-US" dirty="0" err="1"/>
              <a:t>mlflow</a:t>
            </a:r>
            <a:r>
              <a:rPr lang="en-US" dirty="0"/>
              <a:t> tracking server</a:t>
            </a:r>
          </a:p>
          <a:p>
            <a:r>
              <a:rPr lang="en-US" dirty="0"/>
              <a:t>Etc.</a:t>
            </a:r>
          </a:p>
        </p:txBody>
      </p:sp>
    </p:spTree>
    <p:extLst>
      <p:ext uri="{BB962C8B-B14F-4D97-AF65-F5344CB8AC3E}">
        <p14:creationId xmlns:p14="http://schemas.microsoft.com/office/powerpoint/2010/main" val="3956515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2047</TotalTime>
  <Words>936</Words>
  <Application>Microsoft Macintosh PowerPoint</Application>
  <PresentationFormat>Widescreen</PresentationFormat>
  <Paragraphs>71</Paragraphs>
  <Slides>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Wingdings</vt:lpstr>
      <vt:lpstr>Office Theme</vt:lpstr>
      <vt:lpstr>PowerPoint Presentation</vt:lpstr>
      <vt:lpstr>Model Evaluation &amp; Comparison</vt:lpstr>
      <vt:lpstr>Model Deployment on AWS SageMaker</vt:lpstr>
      <vt:lpstr>Deployment (cont.)</vt:lpstr>
      <vt:lpstr>Wrap up</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41</cp:revision>
  <dcterms:created xsi:type="dcterms:W3CDTF">2025-11-25T22:38:24Z</dcterms:created>
  <dcterms:modified xsi:type="dcterms:W3CDTF">2025-11-28T14:48:14Z</dcterms:modified>
</cp:coreProperties>
</file>